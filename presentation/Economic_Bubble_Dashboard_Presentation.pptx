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PR-AUC (global test)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Logistic
Regression</c:v>
                </c:pt>
                <c:pt idx="1">
                  <c:v>Elastic Net
Logistic</c:v>
                </c:pt>
                <c:pt idx="2">
                  <c:v>Balanced
Random Forest</c:v>
                </c:pt>
                <c:pt idx="3">
                  <c:v>XGBoost</c:v>
                </c:pt>
                <c:pt idx="4">
                  <c:v>Random
Forest</c:v>
                </c:pt>
                <c:pt idx="5">
                  <c:v>Rule-Based
Baseline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0.128</c:v>
                </c:pt>
                <c:pt idx="1">
                  <c:v>0.128</c:v>
                </c:pt>
                <c:pt idx="2">
                  <c:v>0.108</c:v>
                </c:pt>
                <c:pt idx="3">
                  <c:v>0.109</c:v>
                </c:pt>
                <c:pt idx="4">
                  <c:v>0.101</c:v>
                </c:pt>
                <c:pt idx="5">
                  <c:v>0.096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ROC-AUC (global test)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Logistic
Regression</c:v>
                </c:pt>
                <c:pt idx="1">
                  <c:v>Elastic Net
Logistic</c:v>
                </c:pt>
                <c:pt idx="2">
                  <c:v>Balanced
Random Forest</c:v>
                </c:pt>
                <c:pt idx="3">
                  <c:v>XGBoost</c:v>
                </c:pt>
                <c:pt idx="4">
                  <c:v>Random
Forest</c:v>
                </c:pt>
                <c:pt idx="5">
                  <c:v>Rule-Based
Baseline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0.615</c:v>
                </c:pt>
                <c:pt idx="1">
                  <c:v>0.615</c:v>
                </c:pt>
                <c:pt idx="2">
                  <c:v>0.592</c:v>
                </c:pt>
                <c:pt idx="3">
                  <c:v>0.585</c:v>
                </c:pt>
                <c:pt idx="4">
                  <c:v>0.574</c:v>
                </c:pt>
                <c:pt idx="5">
                  <c:v>0.547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ΔPR-AUC (transformed − baseline)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XGBoost
global</c:v>
                </c:pt>
                <c:pt idx="1">
                  <c:v>Random Forest
global</c:v>
                </c:pt>
                <c:pt idx="2">
                  <c:v>Balanced RF
global</c:v>
                </c:pt>
                <c:pt idx="3">
                  <c:v>Logistic Reg
global</c:v>
                </c:pt>
                <c:pt idx="4">
                  <c:v>Elastic Net
global</c:v>
                </c:pt>
                <c:pt idx="5">
                  <c:v>XGBoost
broad ETF</c:v>
                </c:pt>
                <c:pt idx="6">
                  <c:v>Random Forest
broad ETF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0.01</c:v>
                </c:pt>
                <c:pt idx="1">
                  <c:v>0.015</c:v>
                </c:pt>
                <c:pt idx="2">
                  <c:v>0.0</c:v>
                </c:pt>
                <c:pt idx="3">
                  <c:v>-0.002</c:v>
                </c:pt>
                <c:pt idx="4">
                  <c:v>-0.001</c:v>
                </c:pt>
                <c:pt idx="5">
                  <c:v>0.007</c:v>
                </c:pt>
                <c:pt idx="6">
                  <c:v>0.015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Economic Bubble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ADCFC"/>
                </a:solidFill>
                <a:latin typeface="Calibri"/>
              </a:rPr>
              <a:t>&amp; Investment Strategy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029968"/>
            <a:ext cx="27432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ADCFC"/>
                </a:solidFill>
                <a:latin typeface="Calibri"/>
              </a:rPr>
              <a:t>Machine Learning for Rare Economic Events  ·  LANL / Academic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BA4D4"/>
                </a:solidFill>
                <a:latin typeface="Calibri"/>
              </a:rPr>
              <a:t>Educational research project  —  not investment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A4D4"/>
                </a:solidFill>
                <a:latin typeface="Calibri"/>
              </a:rPr>
              <a:t>Mark Crisci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The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Can historical market data identify conditions that precede major drawdowns?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2/16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8321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E293B"/>
                </a:solidFill>
                <a:latin typeface="Calibri"/>
              </a:rPr>
              <a:t>▸  Economic bubbles share recognisable signatures: extreme valuation, momentum divergence, volatility compression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E293B"/>
                </a:solidFill>
                <a:latin typeface="Calibri"/>
              </a:rPr>
              <a:t>▸  Forecasting the exact timing of a crash is widely regarded as near-impossible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E293B"/>
                </a:solidFill>
                <a:latin typeface="Calibri"/>
              </a:rPr>
              <a:t>▸  A more tractable goal: estimate the probability that current conditions RESEMBLE pre-drawdown regimes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E293B"/>
                </a:solidFill>
                <a:latin typeface="Calibri"/>
              </a:rPr>
              <a:t>▸  Our target: burst_6m_segment = 1 if a segment-adjusted major drawdown occurs within 26 weekly observations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E293B"/>
                </a:solidFill>
                <a:latin typeface="Calibri"/>
              </a:rPr>
              <a:t>▸  Segment-adjusted thresholds prevent labelling a −20% SPY move the same way as a −20% Bitcoin move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52628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KEY CONSTRAINT  ·  We build a detector, not a predictor. A high score means resemblance to history, not a guaranteed crash.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Dataset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81 tickers · 597,806 rows · 1927 –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9659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96596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39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C7293"/>
                </a:solidFill>
                <a:latin typeface="Calibri"/>
              </a:rPr>
              <a:t>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Tickers tracked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097280"/>
            <a:ext cx="19659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14600" y="1097280"/>
            <a:ext cx="19659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234439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9488"/>
                </a:solidFill>
                <a:latin typeface="Calibri"/>
              </a:rPr>
              <a:t>597,806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Weekly 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097280"/>
            <a:ext cx="19659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1234439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C7293"/>
                </a:solidFill>
                <a:latin typeface="Calibri"/>
              </a:rPr>
              <a:t>99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Historical coverage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097280"/>
            <a:ext cx="19659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12280" y="1097280"/>
            <a:ext cx="19659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1234439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9488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Asset segments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377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Four asset segments with segment-specific drawdown thresholds: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34640"/>
            <a:ext cx="2651760" cy="347472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7121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287121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All tickers pooled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2834640"/>
            <a:ext cx="1645920" cy="34747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287121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−25% threshold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264408"/>
            <a:ext cx="2651760" cy="347472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30098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broad_index_etf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30098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SPY, QQQ, EFA, EEM, VNQ 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95160" y="3264408"/>
            <a:ext cx="1645920" cy="34747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33009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−20% threshold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94176"/>
            <a:ext cx="2651760" cy="347472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73075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mega_cap_ai_tech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37307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AAPL, MSFT, NVDA, GOOGL 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95160" y="3694176"/>
            <a:ext cx="1645920" cy="34747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2592" y="3730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−35% threshold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23944"/>
            <a:ext cx="2651760" cy="347472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1605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speculative_high_vol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1605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BTC, ETH, ARKK, GME 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95160" y="4123944"/>
            <a:ext cx="1645920" cy="34747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22592" y="41605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−50% threshold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Target Label: burst_6m_segment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Segment-adjusted forward drawdown labels — no random shuffling, chronological splits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4/16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Why segment-specific thresholds?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▸  A −20% decline in SPY (broad market) is a major correction; the same move in BTC is routine volatility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▸  Using a single threshold conflates qualitatively different events and corrupts the label distribution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▸  Segment thresholds ensure each label class reflects truly-unusual drawdowns for that asset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97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Class balance &amp; split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274320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11810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063240"/>
            <a:ext cx="201168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311810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Positive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3063240"/>
            <a:ext cx="320040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5232" y="31181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Training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19856"/>
            <a:ext cx="274320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7472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global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419856"/>
            <a:ext cx="201168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34747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8.5%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419856"/>
            <a:ext cx="320040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5232" y="3474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70% chronological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76472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831335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broad_index_etf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3776472"/>
            <a:ext cx="2011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73552" y="3831335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11.0%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3776472"/>
            <a:ext cx="32004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85232" y="3831335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70% chronological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274320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4187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mega_cap_ai_tech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133087"/>
            <a:ext cx="201168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73552" y="4187951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6.8%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12080" y="4133087"/>
            <a:ext cx="3200400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85232" y="4187951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70% chronological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89704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54456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speculative_high_vol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4489704"/>
            <a:ext cx="2011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73552" y="45445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10.3%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2080" y="4489704"/>
            <a:ext cx="32004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85232" y="45445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70% chronological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Machine Learning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Chronological splits · no data leakage · 5 model families per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325880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  Data
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81 tickers
1927–2026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3619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7293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09928" y="1188720"/>
            <a:ext cx="1325880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55648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 Feature
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Technical · Macro
Valuation · Rule-based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153619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7293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45536" y="1188720"/>
            <a:ext cx="1325880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256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  ML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256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burst_6m_segment
target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53619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7293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188720"/>
            <a:ext cx="1325880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6864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  Chrono
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70% train · 15% val
15%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153619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7293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16752" y="1188720"/>
            <a:ext cx="1325880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62472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  Model
Training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2472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5 families
4 scopes 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1" y="153619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7293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1188720"/>
            <a:ext cx="1325880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1234440"/>
            <a:ext cx="123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  Evaluation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1719072"/>
            <a:ext cx="12344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PR-AUC · ROC-AUC
MCC · FP/TP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377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Model families trained per scope: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788920"/>
            <a:ext cx="2926080" cy="3200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28254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Logistic Regression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28254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Linear baseline, L2 regularised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182112"/>
            <a:ext cx="2926080" cy="3200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218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Elastic Net Logistic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21868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L1+L2 sparsity, useful for high-dim feature sets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575303"/>
            <a:ext cx="2926080" cy="3200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6118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Random Forest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361187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Ensemble tree, captures non-linearities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968496"/>
            <a:ext cx="2926080" cy="3200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005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Balanced 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4005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Class-weight adjusted RF for imbalanced labels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61688"/>
            <a:ext cx="2926080" cy="32004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3982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XGBoost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43982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Gradient boosted trees, our most complex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Test-Set Model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PR-AUC (primary) · ROC-AUC · Global scope, chronological hold-out 2020–2026 approx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6/16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143000"/>
          <a:ext cx="54864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6126480" y="1143000"/>
            <a:ext cx="2743200" cy="13716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WOW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813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Logistic Regression equals or beats XGBoost on PR-AUC. A simple linear model outperforms a boosted ensemble on this rare-event dataset.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2651760"/>
            <a:ext cx="2743200" cy="1143000"/>
          </a:xfrm>
          <a:prstGeom prst="rect">
            <a:avLst/>
          </a:prstGeom>
          <a:solidFill>
            <a:srgbClr val="FE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HONEST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9923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Base positive rate is 8.5% (global). A random classifier has PR-AUC ≈ 0.085. Our best model achieves 0.128.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Calibri"/>
              </a:rPr>
              <a:t>7/16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WOW #2 — Top-5% Risk Ranking Lifts Event Rate 2×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80467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965960" cy="137160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9488"/>
                </a:solidFill>
                <a:latin typeface="Calibri"/>
              </a:rPr>
              <a:t>2.15×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783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Top-5% lift
Balanced RF / mega_cap_ai_tech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600200"/>
            <a:ext cx="1965960" cy="137160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69164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9488"/>
                </a:solidFill>
                <a:latin typeface="Calibri"/>
              </a:rPr>
              <a:t>2.05×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31720"/>
            <a:ext cx="1783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Top-5% lift
Logistic Regression / global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600200"/>
            <a:ext cx="1965960" cy="137160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9164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9488"/>
                </a:solidFill>
                <a:latin typeface="Calibri"/>
              </a:rPr>
              <a:t>~8.5%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331720"/>
            <a:ext cx="1783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Base positive rate
(global scope)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1600200"/>
            <a:ext cx="1965960" cy="137160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69164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9488"/>
                </a:solidFill>
                <a:latin typeface="Calibri"/>
              </a:rPr>
              <a:t>~17.5%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331720"/>
            <a:ext cx="1783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Top-5% bucket rate
(Logistic Regression / global)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Interpretation: The model cannot tell you exactly when a crash will happen. But when we sort all ticker-weeks by predicted probability and take the highest-risk 5%, that bucket contains real drawdown events at twice the baseline 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96167"/>
                </a:solidFill>
                <a:latin typeface="Calibri"/>
              </a:rPr>
              <a:t>This is risk enrichment, not certainty. 82.5% of 'high-risk' rows still had NO drawdown.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WOW #3 — Why Simple Models Win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Logistic Regression matches XGBoost on PR-AUC despite 10× lower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8/16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4864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Small true-event 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9047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Only ~500–2,700 positive rows in the global test set. Tree ensembles need more signal to outperform linear models.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8256"/>
            <a:ext cx="54864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482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Temporal autocorrelation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95728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Bubble regimes persist for months. Many 'events' are the same episode repeated across tickers. Independent observations are far fewer than row count suggests.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53512"/>
            <a:ext cx="54864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535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Feature linearity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Many bubble precursors (momentum, RSI distance, yield spread) have near-linear relationships with risk. No need for XGBoost's non-linear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58768"/>
            <a:ext cx="54864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Regularisation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L2 / Elastic Net regularisation prevents overfitting on a relatively small unique-event count. XGBoost without careful tuning can overfit.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E2761"/>
                </a:solidFill>
                <a:latin typeface="Calibri"/>
              </a:rPr>
              <a:t>Lesson: Always train a regularised linear baseline first. Complexity is justified only when it demonstrably improves out-of-time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The Rare Event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Imbalanced labels · SMOTE experiments · Balanced Random Forest · Cost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9/16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097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Our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8.5% positive rate (global) — standard classifiers optimise for the majority class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Accuracy is misleading: predicting 'never burst' gives 91.5% accuracy with 0% recall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PR-AUC preferred: summarises precision-recall trade-off, not corrupted by TN-majority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MCC: single metric that accounts for all four confusion-matrix cells symmetrically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SMOTE / SMOTE-ENN: oversample minority class in training — improves recall but risks FP inflation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Balanced Random Forest: class_weight='balanced' equivalent for trees — robust alternative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Cost-ratio thresholds: vary FP/FN cost ratio to find operating points for different use cases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E293B"/>
                </a:solidFill>
                <a:latin typeface="Calibri"/>
              </a:rPr>
              <a:t>▸  Rare-event constrained threshold: minimum precision ≥ 12%, alert rate ≤ 20% enforced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51560"/>
            <a:ext cx="27432" cy="3749039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Phase 8: Feature Transformation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Controlled experiment: same splits, same models, only the feature pipeline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10/16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9 transformation families · 88 new columns on top of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54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log1p / signed-log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7393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Compress right-skewed valuation metrics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103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Winsorisation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2257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Remove extreme outliers (fit on TRAIN 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6517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Rolling z-score by ticker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871215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Normalise within-ticker time series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200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Expanding percentile 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1985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Non-parametric rank transform, shift(1) leakage guard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749039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Regime 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396849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Binary indicators from volatility/RSI thresholds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55448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1554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Interaction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472" y="177393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PE × momentum, vol × drawdown cross terms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0312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9472" y="2103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Vol-adjusted returns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232257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Return scaled by rolling 13w realised vol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65176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26517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Drawdown-state flags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2871215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Binary: currently in drawdown ≥ X%?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320040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9472" y="3200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Squared terms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34198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Captures non-linear tails in linear models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40740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Leakage guard: Winsor bounds and regime thresholds fitted on TRAIN split only (TransformFitState). Rolling z-scores use shift(1) before expanding window to prevent look-ahead.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WOW #4 — Transformation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Selective gains: linear models benefit, trees less so; consistent pattern matters more than magnitude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11/16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143000"/>
          <a:ext cx="530352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897880" y="1143000"/>
            <a:ext cx="3017520" cy="3383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Calibri"/>
              </a:rPr>
              <a:t>▸  Tree models (XGBoost, RF) gain +0.01–0.015 PR-AUC from transformations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Calibri"/>
              </a:rPr>
              <a:t>▸  Linear models show near-zero delta — they already handle scale via regularisation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Calibri"/>
              </a:rPr>
              <a:t>▸  LightGBM (Phase 8 benchmark) PR-AUC 0.113 on broad ETF — competitive with XGBoost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Calibri"/>
              </a:rPr>
              <a:t>▸  No model crosses the 'practically useful' bar of PR-AUC &gt; 0.20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E293B"/>
                </a:solidFill>
                <a:latin typeface="Calibri"/>
              </a:rPr>
              <a:t>▸  A consistent positive delta (not cherry-picked) is the honest interpretation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E2761"/>
                </a:solidFill>
                <a:latin typeface="Calibri"/>
              </a:rPr>
              <a:t>Honest framing: transformations improve feature representation — they do not create new independent historical bubble events.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Multi-Layer Validation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Chronological ML · Event-level leave-one-crisis · Hazard model · Poisson count model · Rule-based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12/16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64008" cy="5669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Chronological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70/85 date split, no shuffle. Primary evaluation method. Temporally sound but same tickers across splits.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92807"/>
            <a:ext cx="64008" cy="5669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92807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Event-Level Valid.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67127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Train before a historical crisis, test on the pre-event window. Fewer observations but the honest generalization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42615"/>
            <a:ext cx="64008" cy="5669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4261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Hazard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16935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Cox-PH model: estimates conditional probability of drawdown given time-in-regime. Complements point-in-time ML scores.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92424"/>
            <a:ext cx="64008" cy="566928"/>
          </a:xfrm>
          <a:prstGeom prst="rect">
            <a:avLst/>
          </a:prstGeom>
          <a:solidFill>
            <a:srgbClr val="0E7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Poisson 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6674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Count model: how many drawdown events expected in the next N weeks? Different question, complementary answer.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42231"/>
            <a:ext cx="64008" cy="5669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422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Rule-Based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16551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Hindenburg Omen, RSI extremes, CAPE excess, yield inversion. PR-AUC ≈ 0.096 — ML must beat this to justify complexity.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Calibri"/>
              </a:rPr>
              <a:t>13/16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14-Section Interactive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ADCFC"/>
                </a:solidFill>
                <a:latin typeface="Calibri"/>
              </a:rPr>
              <a:t>Streamlit · python dashboard.py  ·  http://localhost:8502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60520" cy="347472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1234440"/>
            <a:ext cx="4160520" cy="347472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1.  Executive Summary &amp;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2.  Data Overview &amp; EDA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942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3.  Bubble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883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4.  Historical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5.  Bubble Vital Signs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6.  Current AI Cycle 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0507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7.  ML Model Lab 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8.   Rare Event &amp; Imbalance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1051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9.   Event-Level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24942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10. Hazard &amp; Poisson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6883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11. Investment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272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12. Methods &amp; Diagrams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566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13. Literature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400507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14. Data Quality &amp; Limitations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BA4D4"/>
                </a:solidFill>
                <a:latin typeface="Calibri"/>
              </a:rPr>
              <a:t>★  ML Lab includes: baseline toggle · Transformed vs Baseline · Feature Audit · Recommended 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Limitations &amp; 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What we can claim · What we cannot · What was out of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14/16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4864" cy="5486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  <a:latin typeface="Calibri"/>
              </a:rPr>
              <a:t>Small true-event 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99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Despite 597K rows, the number of truly independent bubble events is perhaps 15–30. Statistical power is limited. Confidence intervals on PR-AUC are 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92807"/>
            <a:ext cx="54864" cy="5486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9280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  <a:latin typeface="Calibri"/>
              </a:rPr>
              <a:t>Survivorship &amp; selection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3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Ticker list reflects assets that existed and were liquid enough to track. Many assets from the 1927–1960 period are missing. Results may not generalise.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42615"/>
            <a:ext cx="54864" cy="5486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4261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  <a:latin typeface="Calibri"/>
              </a:rPr>
              <a:t>Data snooping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986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Iterative feature engineering on the same dataset can implicitly overfit even with chronological splits. Event-level validation helps but does not fully eliminate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92424"/>
            <a:ext cx="54864" cy="5486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  <a:latin typeface="Calibri"/>
              </a:rPr>
              <a:t>Modest absolute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4845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Best test PR-AUC is 0.128 vs 0.085 base rate. This is real but modest signal — not a trading edge, not a crash alarm, not actionable without further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42231"/>
            <a:ext cx="54864" cy="5486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4223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030"/>
                </a:solidFill>
                <a:latin typeface="Calibri"/>
              </a:rPr>
              <a:t>Live deployment not attempted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9826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The dashboard simulates live scoring (ml_inference.py). No paper-trading validation was performed. Real-world deployment would require data pipeline hardening.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28600"/>
            <a:ext cx="64008" cy="8229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Technical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7293"/>
                </a:solidFill>
                <a:latin typeface="Calibri"/>
              </a:rPr>
              <a:t>Pipeline · Tooling · Evaluation framework · Educational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End-to-end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6245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14-script reproducible pipeline from raw API calls to scored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Segment-adjusted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1109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Segment-specific drawdown thresholds — a principled improvement over single-threshold labelling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Phase 8 leakage-proof transforms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5973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TransformFitState: winsor/regime fits on TRAIN only, shift(1) lookback guard in all rolling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8892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889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Multi-layer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0837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Chronological + event-level + hazard + Poisson — four independent angles on the same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375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Composite model scorer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5701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Pre-specified weighted scoring formula across 5 metrics; auditable, replicable, not cherry-picked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54864" cy="40233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14-tab narrative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0565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Each page includes interpretation boxes, regime badges, missing-artifact notices, expanders with methodology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54864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Honest framing throughout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5429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Every chart includes a 'do not overclaim' interpretation box; base rates shown alongside all lift metrics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Calibri"/>
              </a:rPr>
              <a:t>16/16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80467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27432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Logistic Regression with chronological splits is the most defensible baseline — simpler models survive honest evaluation better than complex 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84832"/>
            <a:ext cx="27432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08483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1168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Top-5% risk ranking enriches the event rate ~2×, which is modest but real signal on 97 years of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33472"/>
            <a:ext cx="27432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Feature transformations provide +0.01–0.015 PR-AUC for tree models — worthwhile but not game-changing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82112"/>
            <a:ext cx="27432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8211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honest answer is that predicting bubble bursts is hard and our modest PR-AUC reflects that honestly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30752"/>
            <a:ext cx="27432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7307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5760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dashboard infrastructure — interpretation boxes, regime badges, multi-layer validation, missing-artifact notices — is the project's most durable contribution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solidFill>
            <a:srgbClr val="112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This is an educational research project. Nothing here constitutes investment advice. All findings should be validated on fresh out-of-sample data before any application.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