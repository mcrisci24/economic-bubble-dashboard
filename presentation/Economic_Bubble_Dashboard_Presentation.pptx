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PR-AUC (test)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LogReg</c:v>
                </c:pt>
                <c:pt idx="1">
                  <c:v>ElasticNet</c:v>
                </c:pt>
                <c:pt idx="2">
                  <c:v>Bal.RF</c:v>
                </c:pt>
                <c:pt idx="3">
                  <c:v>XGBoost</c:v>
                </c:pt>
                <c:pt idx="4">
                  <c:v>RF</c:v>
                </c:pt>
                <c:pt idx="5">
                  <c:v>Rule-Based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0.128</c:v>
                </c:pt>
                <c:pt idx="1">
                  <c:v>0.128</c:v>
                </c:pt>
                <c:pt idx="2">
                  <c:v>0.108</c:v>
                </c:pt>
                <c:pt idx="3">
                  <c:v>0.109</c:v>
                </c:pt>
                <c:pt idx="4">
                  <c:v>0.101</c:v>
                </c:pt>
                <c:pt idx="5">
                  <c:v>0.096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ΔPR-AUC (transformed − baseline)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XGBoost
global</c:v>
                </c:pt>
                <c:pt idx="1">
                  <c:v>RF
global</c:v>
                </c:pt>
                <c:pt idx="2">
                  <c:v>XGBoost
broad ETF</c:v>
                </c:pt>
                <c:pt idx="3">
                  <c:v>LogReg
global</c:v>
                </c:pt>
                <c:pt idx="4">
                  <c:v>ElasticNet
global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0.015</c:v>
                </c:pt>
                <c:pt idx="2">
                  <c:v>0.007</c:v>
                </c:pt>
                <c:pt idx="3">
                  <c:v>-0.002</c:v>
                </c:pt>
                <c:pt idx="4">
                  <c:v>-0.001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  <a:latin typeface="Calibri"/>
              </a:rPr>
              <a:t>Supervised Machine Learning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Future Drawdown Risk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55648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Calibri"/>
              </a:rPr>
              <a:t>Novel non-Kaggle dataset  ·  Imbalanced binary classification  ·  Rare-event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A4D4"/>
                </a:solidFill>
                <a:latin typeface="Calibri"/>
              </a:rPr>
              <a:t>The interactive dashboard is the interpretation layer.  The ML pipeline is the deliverable.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A4D4"/>
                </a:solidFill>
                <a:latin typeface="Calibri"/>
              </a:rPr>
              <a:t>Mark Crisci  ·  2026  ·  Educational research — not investment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Why This Problem?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Rare-event binary classification on financial market time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321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Bubble episodes recur across asset classes: dot-com 2000, housing 2008, crypto 2021 — each with recognisable precursors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Exact crash timing is widely regarded as unpredictable — but supervised classification of pre-drawdown RISK is a tractable ML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Framing: does today's feature vector resemble historical pre-drawdown regimes?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Evaluation challenge: ~8.5% positive-class rate globally — standard accuracy is misleading; PR-AUC, MCC, and top-k lift are required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Dataset is original (Yahoo Finance + FRED), not pre-packaged — requires careful target construction and leakage prevention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9884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Goal: build a defensible rare-event classifier; evaluate it honestly; show what the models CAN and CANNOT conclude.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Dataset: Original, Not Kaggle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81 tickers · 597,806 weekly rows · 1927–2026 · Yahoo Finance + FRED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965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1615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7293"/>
                </a:solidFill>
                <a:latin typeface="Calibri"/>
              </a:rPr>
              <a:t>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190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Tickers (ETFs, stocks,
crypto, macro)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097280"/>
            <a:ext cx="1965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121615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  <a:latin typeface="Calibri"/>
              </a:rPr>
              <a:t>597,806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7190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Weekly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97280"/>
            <a:ext cx="1965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21615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7293"/>
                </a:solidFill>
                <a:latin typeface="Calibri"/>
              </a:rPr>
              <a:t>99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17190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Historical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9728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97280"/>
            <a:ext cx="1965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21615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7190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Asset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331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Segment-specific drawdown thresholds — because −20% in SPY ≠ −20% in BTC: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43200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697480"/>
            <a:ext cx="34747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743200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All tickers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697480"/>
            <a:ext cx="164592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2743200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−25%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81528"/>
            <a:ext cx="2743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27248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broad_index_etf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081528"/>
            <a:ext cx="34747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127248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SPY, QQQ 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3081528"/>
            <a:ext cx="16459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3127248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−20%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465576"/>
            <a:ext cx="27432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11296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mega_cap_ai_tech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465576"/>
            <a:ext cx="34747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3511296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AAPL, NVDA 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3465576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511296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−35%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49624"/>
            <a:ext cx="27432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895344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speculative_high_vol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849624"/>
            <a:ext cx="34747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3895344"/>
            <a:ext cx="3337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BTC, ARKK 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849624"/>
            <a:ext cx="16459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895344"/>
            <a:ext cx="1508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−50%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Target Label: burst_6m_segment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Binary: 1 if segment-adjusted major drawdown within next 26 weekly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321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Positive rate: 6.8% (mega_cap_ai_tech) to 11.0% (broad_index_etf) — imbalanced by design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Chronological 70/15/15 split by unique date — no shuffling, no future leakage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target_valid_burst_6m_segment flag excludes overlap windows (ongoing burst rows not labelled as new onset)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26-week forward window: long enough to be actionable, short enough to be testable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Class balance by scope (test split):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93008"/>
            <a:ext cx="3200400" cy="2834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958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493008"/>
            <a:ext cx="2286000" cy="2834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35295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Positive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493008"/>
            <a:ext cx="2286000" cy="2834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29584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Test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03904"/>
            <a:ext cx="32004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3803904"/>
            <a:ext cx="22860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840480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8.5%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803904"/>
            <a:ext cx="22860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3840480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54,244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5137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broad_index_etf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114800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4151376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114800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151376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~16,000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25696"/>
            <a:ext cx="32004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6227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mega_cap_ai_tech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425696"/>
            <a:ext cx="22860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462272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6.8%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425696"/>
            <a:ext cx="2286000" cy="2834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4462272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9,481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36592"/>
            <a:ext cx="32004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731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speculative_high_vol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736592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47731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10.3%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736592"/>
            <a:ext cx="228600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77316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~11,700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EDA: Class Imbalance &amp; Feature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Why accuracy fails · What the data tells us before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EDA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Modeling implication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2272" y="100584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886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▸  8.5% positive rate — majority-class classifier gets 91.5% accuracy, 0% recall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▸  Pre-burst weeks show elevated RSI extremes, higher short-term vol, momentum divergence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▸  Valuation multiples alone are weak predictors — timing signal requires velocity features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E293B"/>
                </a:solidFill>
                <a:latin typeface="Calibri"/>
              </a:rPr>
              <a:t>▸  High within-ticker autocorrelation: one regime = hundreds of correlated positive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25880"/>
            <a:ext cx="4251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C7293"/>
                </a:solidFill>
                <a:latin typeface="Calibri"/>
              </a:rPr>
              <a:t>▸  → accuracy is misleading for this problem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C7293"/>
                </a:solidFill>
                <a:latin typeface="Calibri"/>
              </a:rPr>
              <a:t>▸  → PR-AUC, MCC, and top-k lift are the right metrics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C7293"/>
                </a:solidFill>
                <a:latin typeface="Calibri"/>
              </a:rPr>
              <a:t>▸  → feature engineering must include momentum, RSI, and drawdown velocity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C7293"/>
                </a:solidFill>
                <a:latin typeface="Calibri"/>
              </a:rPr>
              <a:t>▸  → effective sample size is far smaller than 597K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Feature Engineering &amp; Transformations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Baseline families + Phase 8 transformed features (88 additional columns)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Baseline feature families: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Price momentum &amp; RSI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1848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7/14/26-week returns, RSI, distance from 200-DMA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20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Volume ratios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2140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Relative volume vs 12-week avg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231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62432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P/E, P/S, P/B, EV/EBITDA, market cap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926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Macro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12724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Yield curve spread, VIX, credit spreads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4290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Rule-based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63016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Hindenburg Omen, CAPE excess, yield inversion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4864" cy="3657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9319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Drawdown &amp; vol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133087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Rolling max drawdown 4w/13w/26w, realised vol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0972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Phase 8 transformed families (88 new columns):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1417320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43560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log1p / signed-log compression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1728" y="1819656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1837943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Winsorisation (fit on TRAIN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2221992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22402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Rolling z-score by ticker (shift(1) guard)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1728" y="2624328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64261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Expanding percentile rank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1728" y="3026664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0449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Regime flags (vol / RSI thresholds)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1728" y="3429000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344728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Interaction features (PE × momentum …)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81728" y="3831336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84962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Vol-adjusted returns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728" y="4233672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4251959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Drawdown-state binary flags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81728" y="4636008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6542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Squared terms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718304"/>
            <a:ext cx="7955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Leakage prevention: winsor/regime thresholds fit on TRAIN only (TransformFitState); rolling z-score uses shift(1) lookback guard.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Benchmark: Logistic Regression (L2)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Simplest defensible baseline for imbalanced binary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965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26187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  <a:latin typeface="Calibri"/>
              </a:rPr>
              <a:t>0.128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Test PR-AUC
(base rate 0.085)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14300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143000"/>
            <a:ext cx="1965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126187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7293"/>
                </a:solidFill>
                <a:latin typeface="Calibri"/>
              </a:rPr>
              <a:t>0.615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76479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Test ROC-AUC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14300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143000"/>
            <a:ext cx="1965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2" y="126187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9488"/>
                </a:solidFill>
                <a:latin typeface="Calibri"/>
              </a:rPr>
              <a:t>2.05×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176479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Top-5% lift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143000"/>
            <a:ext cx="19659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143000"/>
            <a:ext cx="1965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261872"/>
            <a:ext cx="18196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C7293"/>
                </a:solidFill>
                <a:latin typeface="Calibri"/>
              </a:rPr>
              <a:t>0.077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76479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3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Why Logistic Regression as benchmark?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43200"/>
            <a:ext cx="8321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Regularised linear models are the standard first baseline for rare-event classification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L2 penalty controls for small effective sample size (few independent bubble events)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Coefficients are interpretable — feature direction and magnitude are directly readable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Any more-complex model that fails to beat this baseline does not justify its added complexity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▸  Threshold tuned on validation split, not hard-coded at 0.50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All Models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5 baseline families + Rule-Based baseline · LightGBM in transformed-feature pipeline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26060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097280"/>
            <a:ext cx="29260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33856"/>
            <a:ext cx="2788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97280"/>
            <a:ext cx="137160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33856"/>
            <a:ext cx="1234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 PR-AUC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097280"/>
            <a:ext cx="173736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13385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Scope /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44752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9961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Logistic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444752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49961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Benchmark &amp; recommended 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44752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4996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1444752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49961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47088"/>
            <a:ext cx="2743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019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Elastic Net Logistic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1847088"/>
            <a:ext cx="29260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190195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Regularised linear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847088"/>
            <a:ext cx="1371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901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0.128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1847088"/>
            <a:ext cx="17373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90195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249424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3042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Random Forest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2249424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230428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Nonlinear tree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249424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30428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2249424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23042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51760"/>
            <a:ext cx="2743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70662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Balanced Random Forest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2651760"/>
            <a:ext cx="29260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270662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Imbalance-aware tree (class_weight)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2651760"/>
            <a:ext cx="1371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270662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0.108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2651760"/>
            <a:ext cx="17373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270662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054096"/>
            <a:ext cx="2743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108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XGBoost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3054096"/>
            <a:ext cx="2926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0" y="310896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Boosted-tree challenger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3054096"/>
            <a:ext cx="1371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108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3054096"/>
            <a:ext cx="17373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310896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56432"/>
            <a:ext cx="27432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51129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Rule-Based Score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3456432"/>
            <a:ext cx="29260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0" y="351129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Interpretable sanity-check baseline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456432"/>
            <a:ext cx="13716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351129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0.096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3456432"/>
            <a:ext cx="173736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98079" y="35112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global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58768"/>
            <a:ext cx="2743200" cy="347472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391363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LightGBM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3858768"/>
            <a:ext cx="2926080" cy="347472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0" y="391363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Phase 8 transformed-feature only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0" y="3858768"/>
            <a:ext cx="1371600" cy="347472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391363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0.119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06640" y="3858768"/>
            <a:ext cx="1737360" cy="347472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79" y="39136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broad ETF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315968"/>
            <a:ext cx="8412480" cy="594360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437083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6167"/>
                </a:solidFill>
                <a:latin typeface="Calibri"/>
              </a:rPr>
              <a:t>LightGBM (orange row): trained only in the transformed-feature experiment (Phase 8). It is NOT in the baseline comparison. The baseline uses Balanced RF instead. This is explicit in the dashboard and all presentation materials.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Train / Val / Test &amp;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Chronological 70/15/15 split · no shuffle · threshold tuned on 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56032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161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Train 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8191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1927 – ~2007
Model fitting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43000"/>
            <a:ext cx="2560320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161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Validation 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58191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~2007 – ~2016
Threshold 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43000"/>
            <a:ext cx="256032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21615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Test 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58191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  <a:latin typeface="Calibri"/>
              </a:rPr>
              <a:t>~2016 – 2026
Final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Evaluation metrics for imbalanced rare-event classification: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33472"/>
            <a:ext cx="155448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8833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PR-AUC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68833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Primary — not corrupted by true-negative majority; summarises precision-recall trade-off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08152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08152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Secondary — overall ranking ability (but FPR denominator inflated by TN majority)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19856"/>
            <a:ext cx="155448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47472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47472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Single symmetric metric using all four confusion-matrix cells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13048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867911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Top-k 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867911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Event rate in top 5%/10% risk bucket vs base rate — most intuitive business metric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06240"/>
            <a:ext cx="155448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4261103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FP/TP burden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261103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False positives per true positive — critical for alert-noise 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99431"/>
            <a:ext cx="155448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654295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Brier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4654295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Calibration quality — are predicted probabilities reliable?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Model Results &amp; Recommended Overall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Test-split PR-AUC · Composite score selects Logistic Regression /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10/15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" y="1097280"/>
          <a:ext cx="5029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5623560" y="1143000"/>
            <a:ext cx="3246120" cy="1280160"/>
          </a:xfrm>
          <a:prstGeom prst="rect">
            <a:avLst/>
          </a:prstGeom>
          <a:solidFill>
            <a:srgbClr val="E0F2FE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33288" y="1216152"/>
            <a:ext cx="3063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Top composite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490472"/>
            <a:ext cx="30632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Logistic Regression / global
PR-AUC: 0.128  |  ROC-AUC: 0.615
Top-5% lift: 2.05×  |  MCC: 0.077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542032"/>
            <a:ext cx="3246120" cy="914400"/>
          </a:xfrm>
          <a:prstGeom prst="rect">
            <a:avLst/>
          </a:prstGeom>
          <a:solidFill>
            <a:srgbClr val="E0F2FE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3288" y="2615184"/>
            <a:ext cx="3063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Rule-based sanity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889503"/>
            <a:ext cx="3063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PR-AUC 0.096 — ML must beat this.
XGBoost (0.109), Balanced RF (0.108): above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3566160"/>
            <a:ext cx="3246120" cy="777240"/>
          </a:xfrm>
          <a:prstGeom prst="rect">
            <a:avLst/>
          </a:prstGeom>
          <a:solidFill>
            <a:srgbClr val="E0F2FE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3639312"/>
            <a:ext cx="30632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6167"/>
                </a:solidFill>
                <a:latin typeface="Calibri"/>
              </a:rPr>
              <a:t>Honest base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3288" y="3913632"/>
            <a:ext cx="306323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Random classifier PR-AUC ≈ 0.085.
Best gain: +50% above random.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07992"/>
            <a:ext cx="8412480" cy="4114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44568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  <a:latin typeface="Calibri"/>
              </a:rPr>
              <a:t>Composite score formula: PR-AUC 35% + ROC-AUC 20% + MCC 20% − FP/TP burden 15% − Brier 10%  ·  Fully documented in Feature Audit tab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Feature Transformations: Three Model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Delta metrics are only valid for models present in BOTH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Transformations change predictor variable representation, not model algorithms.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8138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GROUP 1 — Before/After comparison (delta is valid): Logistic Reg, Elastic Net, Random Forest, XGBoost, Rule-Based Score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50292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577840" y="1691640"/>
            <a:ext cx="3291840" cy="1005840"/>
          </a:xfrm>
          <a:prstGeom prst="rect">
            <a:avLst/>
          </a:prstGeom>
          <a:solidFill>
            <a:srgbClr val="FEF9EE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74650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GROUP 2 — Baseline-only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993392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Balanced Random Forest
No transformed version — delta not calculated.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807208"/>
            <a:ext cx="3291840" cy="987552"/>
          </a:xfrm>
          <a:prstGeom prst="rect">
            <a:avLst/>
          </a:prstGeom>
          <a:solidFill>
            <a:srgbClr val="FEF0D8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2862072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  <a:latin typeface="Calibri"/>
              </a:rPr>
              <a:t>GROUP 3 — Transformed-only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108960"/>
            <a:ext cx="3063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LightGBM
No baseline version — delta not calculated.
PR-AUC: 0.119 (broad ETF), 0.113 (global)
Competitive with XGBoost, not a before/after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58768"/>
            <a:ext cx="8412480" cy="50292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95344"/>
            <a:ext cx="8138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Key finding: Tree models (XGBoost, RF) gain +0.01–0.015 PR-AUC from transformations. Linear models gain ~0 (regularisation already handles scale). No model crosses PR-AUC 0.20 in either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96167"/>
                </a:solidFill>
                <a:latin typeface="Calibri"/>
              </a:rPr>
              <a:t>Caveat: transformations improve predictor representation. They do not create new independent historical bubble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Feature Importance &amp;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Cross-model convergence on the same feature families builds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8321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Logistic Regression signed coefficients: positive = raises risk; negative = lowers it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Tree feature importance: mean impurity decrease across splits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Both methods converge on: momentum, RSI extremes, rule-based scores, short-term volatility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Valuation multiples (P/E, P/S) contribute — but secondary to price-action features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Transformed pipeline: rolling z-scores and regime flags rank highly for XGBoost and RF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E293B"/>
                </a:solidFill>
                <a:latin typeface="Calibri"/>
              </a:rPr>
              <a:t>▸  Theme roll-up aggregates 100+ features into 8 interpretable families for stakeholder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  <a:latin typeface="Calibri"/>
              </a:rPr>
              <a:t>Cross-model agreement on feature families is evidence that the relationship is real, not model-specific. A feature that matters to Logistic Regression coefficients AND XGBoost impurity gain is likely a genuine statistical signal — not an artifact of model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Multi-Layer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Four independent evaluation angles — not just the ML chronological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64008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1  Chronological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70/15/15 date split. Primary. Same tickers may appear in train and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64008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2  Event-Level Valid.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96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Train before crisis; test on pre-event window. Fewer obs, most honest generalization.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64008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3  Hazard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Cox-PH: conditional drawdown probability given time-in-regime. Different question.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10128"/>
            <a:ext cx="64008" cy="548640"/>
          </a:xfrm>
          <a:prstGeom prst="rect">
            <a:avLst/>
          </a:prstGeom>
          <a:solidFill>
            <a:srgbClr val="0E7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4  Poisson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0273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Expected drawdown events in next N weeks. Complements point-in-time classifier.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41648"/>
            <a:ext cx="64008" cy="5486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5993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5  Rule-Based Sanity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34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Hindenburg Omen, CAPE, RSI extremes. PR-AUC 0.096 — ML must beat this.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64008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libri"/>
              </a:rPr>
              <a:t>Limitations: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94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7293"/>
                </a:solidFill>
                <a:latin typeface="Calibri"/>
              </a:rPr>
              <a:t>Weak results are not hidden — they are part of the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54864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33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  <a:latin typeface="Calibri"/>
              </a:rPr>
              <a:t>Small true-event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~15–30 independent bubble episodes globally. Wide PR-AUC confidence intervals. 597K rows ≠ 597K independent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65376"/>
            <a:ext cx="54864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836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  <a:latin typeface="Calibri"/>
              </a:rPr>
              <a:t>Implicit data snooping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396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Iterative feature engineering on the same dataset creates overfitting risk even with chronological splits. Event-level validation partially mitigates this.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15184"/>
            <a:ext cx="54864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  <a:latin typeface="Calibri"/>
              </a:rPr>
              <a:t>Modest absolute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Best PR-AUC 0.128 vs 0.085 base rate. Real signal — but not a trading edge, not a crash alarm. Top-5% bucket is 82.5% false positives.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64991"/>
            <a:ext cx="54864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  <a:latin typeface="Calibri"/>
              </a:rPr>
              <a:t>Survivorship &amp; coverage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3931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Ticker list reflects assets that survived and were liquid. 1927–1960 data is sparse for many tickers.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3308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030"/>
                </a:solidFill>
                <a:latin typeface="Calibri"/>
              </a:rPr>
              <a:t>No live deployment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ml_inference.py simulates live scoring. No paper-trading or out-of-sample deployment validation was performed.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the Project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80467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Calibri"/>
              </a:rPr>
              <a:t>15/15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90472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904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5389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A regularised linear model (Logistic Regression) is the most defensible baseline and recommended overall model — PR-AUC 0.128 vs 0.085 base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3911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XGBoost and Balanced RF beat the rule-based baseline but do not outperform Logistic Regression — complexity not justified on this event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5877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5117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Feature transformations give tree models +0.01–0.015 PR-AUC; LightGBM (Phase 8 only) is competitive with XGBoost but not superior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36391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136391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99815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Top-5% risk ranking enriches drawdown events ~2× — modest but real; 82.5% of flagged rows still had no drawdown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85032"/>
            <a:ext cx="2743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68503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48456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Modest PR-AUC from a genuinely difficult rare-event problem is a legitimate, honest ML 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solidFill>
            <a:srgbClr val="112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07992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Educational research project. The dashboard is the interpretation layer. The ML pipeline — dataset, labels, splits, multi-model evaluation, rare-event metrics — is the deliverable. Nothing here is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